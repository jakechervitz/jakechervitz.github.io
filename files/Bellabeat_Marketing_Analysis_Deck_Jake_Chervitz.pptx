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8447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40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463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BELLABEAT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100584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Can a Wellness</a:t>
            </a:r>
            <a:endParaRPr lang="en-US" sz="5400" dirty="0"/>
          </a:p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Company Play It Smart?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914400" y="4297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2C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look at smart device usage data and what it means for marketing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</a:t>
            </a:r>
            <a:r>
              <a:rPr lang="en-US" sz="1200">
                <a:solidFill>
                  <a:srgbClr val="F4F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Jake Chervitz </a:t>
            </a:r>
            <a:r>
              <a:rPr lang="en-US" sz="1200" dirty="0">
                <a:solidFill>
                  <a:srgbClr val="F4F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Google Data Analytics Capstone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TASK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D40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Bellabeat wants to figure out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926080"/>
            <a:ext cx="3566160" cy="3200400"/>
          </a:xfrm>
          <a:prstGeom prst="rect">
            <a:avLst/>
          </a:prstGeom>
          <a:solidFill>
            <a:srgbClr val="F9F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926080"/>
            <a:ext cx="73152" cy="32004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1546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40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Bellabeat asked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425196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how people are using smart fitness devices in general, and figure out what that could mean for Bellabeat's app marketing.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2926080"/>
            <a:ext cx="3566160" cy="3200400"/>
          </a:xfrm>
          <a:prstGeom prst="rect">
            <a:avLst/>
          </a:prstGeom>
          <a:solidFill>
            <a:srgbClr val="F9F6F0"/>
          </a:solidFill>
          <a:ln/>
        </p:spPr>
      </p:sp>
      <p:sp>
        <p:nvSpPr>
          <p:cNvPr id="10" name="Shape 8"/>
          <p:cNvSpPr/>
          <p:nvPr/>
        </p:nvSpPr>
        <p:spPr>
          <a:xfrm>
            <a:off x="4343400" y="2926080"/>
            <a:ext cx="73152" cy="32004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31546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617720" y="37033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40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I picked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7720" y="425196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Bellabeat app — it's the layer connecting Leaf, Time, and Spring, and it's where users actually engage with the brand day to day.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2926080"/>
            <a:ext cx="3566160" cy="3200400"/>
          </a:xfrm>
          <a:prstGeom prst="rect">
            <a:avLst/>
          </a:prstGeom>
          <a:solidFill>
            <a:srgbClr val="F9F6F0"/>
          </a:solidFill>
          <a:ln/>
        </p:spPr>
      </p:sp>
      <p:sp>
        <p:nvSpPr>
          <p:cNvPr id="15" name="Shape 13"/>
          <p:cNvSpPr/>
          <p:nvPr/>
        </p:nvSpPr>
        <p:spPr>
          <a:xfrm>
            <a:off x="8138160" y="2926080"/>
            <a:ext cx="73152" cy="32004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31546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412480" y="37033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40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 went about it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12480" y="425196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months of public FitBit data from 35 users, cleaned in Python, turned into findings, then into specific suggestions worth A/B testing.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7F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BELLABEAT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METHOD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D40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worked with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1828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468880" y="2011680"/>
            <a:ext cx="2834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FitBit users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1828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468880" y="3063240"/>
            <a:ext cx="2834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of data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114800"/>
            <a:ext cx="1828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46K+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468880" y="4114800"/>
            <a:ext cx="2834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observations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5166360"/>
            <a:ext cx="1828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468880" y="5166360"/>
            <a:ext cx="2834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files used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0" y="201168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1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0" y="2377440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(pandas, matplotlib, seaborn) for the heavy lifting. Excel and PowerPoint for the final visuals and this deck.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0" y="347472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1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CAN'T TELL US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0" y="3840480"/>
            <a:ext cx="5669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sample (35 users) — findings are directional, not airtight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demographic data — can't confirm match with Bellabeat's women-focused audience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 data — pre-pandemic, before remote work changed sitting habits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data only covers 24 of 35 users (about 70%)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7F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BELLABEAT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40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There's no "typical" user — segments split evenly</a:t>
            </a:r>
            <a:endParaRPr lang="en-US" sz="2800" dirty="0"/>
          </a:p>
        </p:txBody>
      </p:sp>
      <p:pic>
        <p:nvPicPr>
          <p:cNvPr id="4" name="Image 0" descr="/home/claude/bellabeat/charts/01_user_seg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28800"/>
            <a:ext cx="685800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0" y="2011680"/>
            <a:ext cx="3840480" cy="3840480"/>
          </a:xfrm>
          <a:prstGeom prst="rect">
            <a:avLst/>
          </a:prstGeom>
          <a:solidFill>
            <a:srgbClr val="F9F6F0"/>
          </a:solidFill>
          <a:ln/>
        </p:spPr>
      </p:sp>
      <p:sp>
        <p:nvSpPr>
          <p:cNvPr id="6" name="Shape 3"/>
          <p:cNvSpPr/>
          <p:nvPr/>
        </p:nvSpPr>
        <p:spPr>
          <a:xfrm>
            <a:off x="7772400" y="2011680"/>
            <a:ext cx="73152" cy="384048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7" name="Text 4"/>
          <p:cNvSpPr/>
          <p:nvPr/>
        </p:nvSpPr>
        <p:spPr>
          <a:xfrm>
            <a:off x="7955280" y="2194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WHAT?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955280" y="260604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40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tier holds 23–29% of users. No tier is bigger than 30%.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955280" y="384048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message can't reach more than a quarter of users well. The data points pretty clearly toward building four user personas.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7F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BELLABEAT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40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People sit a lot. Like, a lot.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5029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79%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sedentary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4617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F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only 3% in fairly or very active states.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507492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26 sedentary minutes for every 1 genuinely active minute. Even the most active users sit most of the day.</a:t>
            </a:r>
            <a:endParaRPr lang="en-US" sz="1400" dirty="0"/>
          </a:p>
        </p:txBody>
      </p:sp>
      <p:pic>
        <p:nvPicPr>
          <p:cNvPr id="8" name="Image 0" descr="/home/claude/bellabeat/charts/02_daily_composi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2011680"/>
            <a:ext cx="5852160" cy="29260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852160" y="5212080"/>
            <a:ext cx="5852160" cy="1097280"/>
          </a:xfrm>
          <a:prstGeom prst="rect">
            <a:avLst/>
          </a:prstGeom>
          <a:solidFill>
            <a:srgbClr val="3D405B"/>
          </a:solidFill>
          <a:ln/>
        </p:spPr>
      </p:sp>
      <p:sp>
        <p:nvSpPr>
          <p:cNvPr id="10" name="Text 7"/>
          <p:cNvSpPr/>
          <p:nvPr/>
        </p:nvSpPr>
        <p:spPr>
          <a:xfrm>
            <a:off x="6035040" y="534924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 health lever is probably reducing sitting time, not adding more workouts.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7F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BELLABEAT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40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peaks at 7 PM with a clear afternoon dip</a:t>
            </a:r>
            <a:endParaRPr lang="en-US" sz="2800" dirty="0"/>
          </a:p>
        </p:txBody>
      </p:sp>
      <p:pic>
        <p:nvPicPr>
          <p:cNvPr id="4" name="Image 0" descr="/home/claude/bellabeat/charts/03_hourly_patte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28800"/>
            <a:ext cx="768096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1828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WINDOWS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8503920" y="2286000"/>
            <a:ext cx="3200400" cy="1645920"/>
          </a:xfrm>
          <a:prstGeom prst="rect">
            <a:avLst/>
          </a:prstGeom>
          <a:solidFill>
            <a:srgbClr val="F9F6F0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0" y="24231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1–4 PM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686800" y="28803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nudges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686800" y="320040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dips between lunch and the evening peak — the perfect window to nudge.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503920" y="4114800"/>
            <a:ext cx="3200400" cy="1645920"/>
          </a:xfrm>
          <a:prstGeom prst="rect">
            <a:avLst/>
          </a:prstGeom>
          <a:solidFill>
            <a:srgbClr val="F9F6F0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0" y="42519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9–10 PM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686800" y="47091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Bedtime prep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686800" y="502920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is already winding down — natural moment to suggest going to bed.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7F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BELLABEAT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40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third of sleep-trackers get under 6 hours per night</a:t>
            </a:r>
            <a:endParaRPr lang="en-US" sz="2800" dirty="0"/>
          </a:p>
        </p:txBody>
      </p:sp>
      <p:pic>
        <p:nvPicPr>
          <p:cNvPr id="4" name="Image 0" descr="/home/claude/bellabeat/charts/04_sleep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28800"/>
            <a:ext cx="6858000" cy="411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0" y="20116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81B2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46%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7772400" y="26517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the 7-hour minimum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0" y="33832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33%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7772400" y="40233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less than 6 hours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0" y="47548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3D40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92%</a:t>
            </a:r>
            <a:endParaRPr lang="en-US" sz="4200" dirty="0"/>
          </a:p>
        </p:txBody>
      </p:sp>
      <p:sp>
        <p:nvSpPr>
          <p:cNvPr id="10" name="Text 7"/>
          <p:cNvSpPr/>
          <p:nvPr/>
        </p:nvSpPr>
        <p:spPr>
          <a:xfrm>
            <a:off x="7772400" y="53949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efficiency (high)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efficiency + low duration = the issue is bedtime, not biology.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7F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BELLABEAT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40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Sitting more = sleeping less (the strongest signal in the data)</a:t>
            </a:r>
            <a:endParaRPr lang="en-US" sz="2800" dirty="0"/>
          </a:p>
        </p:txBody>
      </p:sp>
      <p:pic>
        <p:nvPicPr>
          <p:cNvPr id="4" name="Image 0" descr="/home/claude/bellabeat/charts/05_sedentary_vs_sle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28800"/>
            <a:ext cx="6858000" cy="411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0" y="20116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WITH SLEEP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772400" y="24688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Sedentary minutes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966960" y="24688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−0.64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772400" y="32461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steps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966960" y="3246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7F7C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−0.20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772400" y="4023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active min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966960" y="40233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7F7C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−0.09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772400" y="5029200"/>
            <a:ext cx="3840480" cy="1280160"/>
          </a:xfrm>
          <a:prstGeom prst="rect">
            <a:avLst/>
          </a:prstGeom>
          <a:solidFill>
            <a:srgbClr val="3D405B"/>
          </a:solidFill>
          <a:ln/>
        </p:spPr>
      </p:sp>
      <p:sp>
        <p:nvSpPr>
          <p:cNvPr id="13" name="Text 10"/>
          <p:cNvSpPr/>
          <p:nvPr/>
        </p:nvSpPr>
        <p:spPr>
          <a:xfrm>
            <a:off x="7955280" y="516636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sitting time might improve fitness AND sleep — pretty good two-for-one.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7F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BELLABEAT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D40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suggestions for the Bellabeat app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157984" cy="3840480"/>
          </a:xfrm>
          <a:prstGeom prst="rect">
            <a:avLst/>
          </a:prstGeom>
          <a:solidFill>
            <a:srgbClr val="F9F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194560"/>
            <a:ext cx="2157984" cy="73152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468880"/>
            <a:ext cx="17922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179222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40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 messages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3D40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different users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179222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content streams for each tier. Stop using one voice for everyone.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43784" y="2194560"/>
            <a:ext cx="2157984" cy="3840480"/>
          </a:xfrm>
          <a:prstGeom prst="rect">
            <a:avLst/>
          </a:prstGeom>
          <a:solidFill>
            <a:srgbClr val="F9F6F0"/>
          </a:solidFill>
          <a:ln/>
        </p:spPr>
      </p:sp>
      <p:sp>
        <p:nvSpPr>
          <p:cNvPr id="10" name="Shape 8"/>
          <p:cNvSpPr/>
          <p:nvPr/>
        </p:nvSpPr>
        <p:spPr>
          <a:xfrm>
            <a:off x="2843784" y="2194560"/>
            <a:ext cx="2157984" cy="73152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11" name="Text 9"/>
          <p:cNvSpPr/>
          <p:nvPr/>
        </p:nvSpPr>
        <p:spPr>
          <a:xfrm>
            <a:off x="3026664" y="2468880"/>
            <a:ext cx="17922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026664" y="3108960"/>
            <a:ext cx="179222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40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Lean into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3D40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sitting less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026664" y="4389120"/>
            <a:ext cx="179222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movement minutes the hero metric. Less "track your workout," more "stand up."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38928" y="2194560"/>
            <a:ext cx="2157984" cy="3840480"/>
          </a:xfrm>
          <a:prstGeom prst="rect">
            <a:avLst/>
          </a:prstGeom>
          <a:solidFill>
            <a:srgbClr val="F9F6F0"/>
          </a:solidFill>
          <a:ln/>
        </p:spPr>
      </p:sp>
      <p:sp>
        <p:nvSpPr>
          <p:cNvPr id="15" name="Shape 13"/>
          <p:cNvSpPr/>
          <p:nvPr/>
        </p:nvSpPr>
        <p:spPr>
          <a:xfrm>
            <a:off x="5138928" y="2194560"/>
            <a:ext cx="2157984" cy="73152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16" name="Text 14"/>
          <p:cNvSpPr/>
          <p:nvPr/>
        </p:nvSpPr>
        <p:spPr>
          <a:xfrm>
            <a:off x="5321808" y="2468880"/>
            <a:ext cx="17922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5321808" y="3108960"/>
            <a:ext cx="179222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40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 notifications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3D40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better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21808" y="4389120"/>
            <a:ext cx="179222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nudges in the 1–4 PM lull. Bedtime prompts at 9–10 PM.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434072" y="2194560"/>
            <a:ext cx="2157984" cy="3840480"/>
          </a:xfrm>
          <a:prstGeom prst="rect">
            <a:avLst/>
          </a:prstGeom>
          <a:solidFill>
            <a:srgbClr val="F9F6F0"/>
          </a:solidFill>
          <a:ln/>
        </p:spPr>
      </p:sp>
      <p:sp>
        <p:nvSpPr>
          <p:cNvPr id="20" name="Shape 18"/>
          <p:cNvSpPr/>
          <p:nvPr/>
        </p:nvSpPr>
        <p:spPr>
          <a:xfrm>
            <a:off x="7434072" y="2194560"/>
            <a:ext cx="2157984" cy="73152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21" name="Text 19"/>
          <p:cNvSpPr/>
          <p:nvPr/>
        </p:nvSpPr>
        <p:spPr>
          <a:xfrm>
            <a:off x="7616952" y="2468880"/>
            <a:ext cx="17922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7616952" y="3108960"/>
            <a:ext cx="179222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40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sleep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3D40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coaching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616952" y="4389120"/>
            <a:ext cx="179222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"bedtime drift" feature. The fix is going to bed earlier, not sleep quality.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729216" y="2194560"/>
            <a:ext cx="2157984" cy="3840480"/>
          </a:xfrm>
          <a:prstGeom prst="rect">
            <a:avLst/>
          </a:prstGeom>
          <a:solidFill>
            <a:srgbClr val="F9F6F0"/>
          </a:solidFill>
          <a:ln/>
        </p:spPr>
      </p:sp>
      <p:sp>
        <p:nvSpPr>
          <p:cNvPr id="25" name="Shape 23"/>
          <p:cNvSpPr/>
          <p:nvPr/>
        </p:nvSpPr>
        <p:spPr>
          <a:xfrm>
            <a:off x="9729216" y="2194560"/>
            <a:ext cx="2157984" cy="73152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26" name="Text 24"/>
          <p:cNvSpPr/>
          <p:nvPr/>
        </p:nvSpPr>
        <p:spPr>
          <a:xfrm>
            <a:off x="9912096" y="2468880"/>
            <a:ext cx="17922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9912096" y="3108960"/>
            <a:ext cx="179222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40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Re-engage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3D40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lapsed users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912096" y="4389120"/>
            <a:ext cx="179222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at 3 days, email at 7, digest at 14. Skip streak-based shaming.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2C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BELLABEAT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2C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40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we'd know each one is working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64240" cy="777240"/>
          </a:xfrm>
          <a:prstGeom prst="rect">
            <a:avLst/>
          </a:prstGeom>
          <a:solidFill>
            <a:srgbClr val="F9F6F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0116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40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Different messaging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480560" y="2011680"/>
            <a:ext cx="7040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segmented vs. unsegmented push notifications. Track open rate and click-through over 30 days.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7889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40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Lean into sitting less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480560" y="2788920"/>
            <a:ext cx="7040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Month-over-month drop in average sedentary minutes per active user.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566160"/>
            <a:ext cx="11064240" cy="777240"/>
          </a:xfrm>
          <a:prstGeom prst="rect">
            <a:avLst/>
          </a:prstGeom>
          <a:solidFill>
            <a:srgbClr val="F9F6F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56616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40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Time notifications better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80560" y="3566160"/>
            <a:ext cx="7040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rate on time-targeted vs. ad-hoc notifications. Step lift in the hour after.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434340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40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Real sleep coaching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80560" y="4343400"/>
            <a:ext cx="7040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sleep duration among bedtime-reminder users. Conversion to paid Bellabeat membership.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5120640"/>
            <a:ext cx="11064240" cy="777240"/>
          </a:xfrm>
          <a:prstGeom prst="rect">
            <a:avLst/>
          </a:prstGeom>
          <a:solidFill>
            <a:srgbClr val="F9F6F0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51206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40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 Re-engage lapsed users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480560" y="5120640"/>
            <a:ext cx="7040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Reactivation rate within 14 days of lapse. Retention at 30, 60, 90 days post-reactivation.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7F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BELLABEAT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D40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463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this could go next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3291840"/>
            <a:ext cx="10058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4F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current data — 2016 behavior probably doesn't match 2025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4F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Bellabeat's own user data instead of FitBit's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4F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demographics to confirm patterns hold for the target audience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4F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the segmented messaging idea against current copy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4F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engagement metrics to actual subscription conversion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5760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F2CC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Thanks for reading.</a:t>
            </a:r>
            <a:endParaRPr lang="en-US" sz="22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DF10A97-C368-A06D-84C2-4FA16FA2EC89}"/>
              </a:ext>
            </a:extLst>
          </p:cNvPr>
          <p:cNvSpPr/>
          <p:nvPr/>
        </p:nvSpPr>
        <p:spPr>
          <a:xfrm>
            <a:off x="914400" y="64008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with AI assistance (Claude) for code structure and writing polish. Analytical decisions are my own.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835</Words>
  <Application>Microsoft Office PowerPoint</Application>
  <PresentationFormat>Widescreen</PresentationFormat>
  <Paragraphs>145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Bellabeat Marketing Analysis</dc:title>
  <dc:subject>PptxGenJS Presentation</dc:subject>
  <dc:creator>Jake</dc:creator>
  <cp:lastModifiedBy>Jake Chervitz</cp:lastModifiedBy>
  <cp:revision>3</cp:revision>
  <dcterms:created xsi:type="dcterms:W3CDTF">2026-05-07T15:06:35Z</dcterms:created>
  <dcterms:modified xsi:type="dcterms:W3CDTF">2026-05-11T17:48:04Z</dcterms:modified>
</cp:coreProperties>
</file>